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3716000" cx="2438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iDlTLOUq9VEwb3jYKECgXKQ2h5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369726-DA3B-4A34-A058-0BFFFBD155DA}">
  <a:tblStyle styleId="{50369726-DA3B-4A34-A058-0BFFFBD155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1. 직렬 변환 설계 (TX)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8bit 병렬 데이터를 UART 규격(LSB First)에 맞춰 한 비트씩 전송하는 </a:t>
            </a:r>
            <a:r>
              <a:rPr b="1" lang="en-US">
                <a:solidFill>
                  <a:schemeClr val="dk1"/>
                </a:solidFill>
              </a:rPr>
              <a:t>PISO(Parallel-In Serial-Out) 구조</a:t>
            </a:r>
            <a:r>
              <a:rPr lang="en-US">
                <a:solidFill>
                  <a:schemeClr val="dk1"/>
                </a:solidFill>
              </a:rPr>
              <a:t>의 송신부를 구현하였습니다.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2. 오버샘플링 복원 (RX)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16배속 오버샘플링</a:t>
            </a:r>
            <a:r>
              <a:rPr lang="en-US">
                <a:solidFill>
                  <a:schemeClr val="dk1"/>
                </a:solidFill>
              </a:rPr>
              <a:t>을 통해 노이즈를 필터링하고, 각 비트의 **중앙부(Center)**에서 정밀하게 값을 추출하는 수신부를 구현하였습니다.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3. PC-FPGA Loopback 검증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PC에서 보낸 데이터를 FPGA가 수신 즉시 재전송하여, </a:t>
            </a:r>
            <a:r>
              <a:rPr b="1" lang="en-US">
                <a:solidFill>
                  <a:schemeClr val="dk1"/>
                </a:solidFill>
              </a:rPr>
              <a:t>PC와 FPGA 간</a:t>
            </a:r>
            <a:r>
              <a:rPr lang="en-US">
                <a:solidFill>
                  <a:schemeClr val="dk1"/>
                </a:solidFill>
              </a:rPr>
              <a:t> 전체 통신 경로의 </a:t>
            </a:r>
            <a:r>
              <a:rPr b="1" lang="en-US">
                <a:solidFill>
                  <a:schemeClr val="dk1"/>
                </a:solidFill>
              </a:rPr>
              <a:t>데이터 무결성</a:t>
            </a:r>
            <a:r>
              <a:rPr lang="en-US">
                <a:solidFill>
                  <a:schemeClr val="dk1"/>
                </a:solidFill>
              </a:rPr>
              <a:t> 및 시스템 안정성을 최종 확인하였습니다.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45aabcb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송신부 ASM 차트 설명시작하겠습니다.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이번 설계의 핵심은 16틱이 모여 하나의 사이클을 완성한다는 점입니다. 각 상태에서 보드레이트 틱을 카운팅하여 정확히 16틱이 채워졌을 때만 다음 상태나 비트로 전환되도록 설계하여 안정성을 높였습니다.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IDLE - TX 핀을 high로 유지하며, 데이터 전송을 알리는 start 신호를 기다립니다.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START - start 신호가 입력되면 TX를 LOW으로 떨어뜨려 PC에 전송 시작을 알립니다. 이때 16틱을 유지하여 완벽한 시작비트 1개를 생성합니다.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DATA - 실제 데이터 전송 구간입니다. 병렬 - 직렬 변환인 PISO를 위해 시프트 레지스터를 활용하였으며, 각 비트마다 16틱씩 할당하여 총 8개의 비트를 순차적으로 전송합니다.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STOP - TX를 다시 HIGH로 올려 전송 종료를 알리고, TX_BUSY 신호를 통해 외부에 현재 전송이 완료되었음을 통보하며 다시 IDLE 상태로 진입합니다.</a:t>
            </a:r>
            <a:endParaRPr/>
          </a:p>
        </p:txBody>
      </p:sp>
      <p:sp>
        <p:nvSpPr>
          <p:cNvPr id="201" name="Google Shape;201;g3d945aabcb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945aabc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RX ASM 차트 설명시작하겠습니다.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설계의 핵심은 외부 비동기 신호에 대한 메타스테이블 방지와 정확한 데이터 복원을 위한 샘플링 기법 입니다.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IDLE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RX_DONE을 0으로 초기화하며 감시합니다. 이때 2단 플립플롭 싱크로나이저를 거친 신호가 0이 되는 순간을 포착하여 START 상태로 진입합니다.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START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RX == 0이 라고 바로 받는것이아니라, 8틱을 카운팅한뒤에 여전히 0임을 파악하여 노이즈가아닌 실제 데이터임을 확정합니다.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DATA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중앙 샘플링 기법을 통해 비트가 가장 안정적인 지점에서 데이터를 복원합니다. 수신된 비트는 시프트레지스터를 통해 직렬 - 병렬 변환 과정을 거쳐 8비트 데이터로 복원됩니다.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STOP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마지막 종료 비트 확인단계입니다. STOP 비트의 길이는 23틱으로 할당을 했고. 이를 통해 발생할 수 있는 누적 타이밍 오차를 흡수하고, RX_DONE 신호를 발생시켜 데이터 전송이 끝났음을 알리며 IDLE 상태로 복귀합니다.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IDEL 상태에서 RX == 0 을 체크하기 전, 저는 이미 2단 플립플롭 싱크로나이저를 거친 신호를 사용하도록 설계하였습니다. </a:t>
            </a:r>
            <a:r>
              <a:rPr lang="en-US">
                <a:solidFill>
                  <a:schemeClr val="dk1"/>
                </a:solidFill>
              </a:rPr>
              <a:t>따라서 빨간색 박스로 표시된 부분을 보시면 외부 핀의 직접적인 값이 아니라, 2단 플립플롭을 거쳐 안정화된 RX_SYN2 값을 사용합니다. </a:t>
            </a:r>
            <a:r>
              <a:rPr lang="en-US"/>
              <a:t>이를 통해 메타스테이블 현상을 방지하고 시스템의 신뢰성을 확보하였습니다. 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Both"/>
            </a:pPr>
            <a:r>
              <a:rPr lang="en-US"/>
              <a:t>IDLE (데이터를 기다리고 있는 초기상태입니다.)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RX_DONE을 0으로 유지하다가, b_tick 신호가 들어오고, RX 가 0이면 신호의 시작을 감지하고 START 상태로 넘어갑니다.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Both"/>
            </a:pPr>
            <a:r>
              <a:rPr lang="en-US"/>
              <a:t>START(감지된 0이 실제 START BIT인지 확인하고 샘플링 타이밍을 맞춥니다.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한비트의 중간 지점(16배속 오버샘플링기준 8번째 틱)에서 샘플링을 시작하기 위해, b_tick_cnt가 7이 될 때까지 기다립니다. 중간 지점에 도달하면 카운터를 초기화하고 실제 데이터를 받는 DATA 상태로 진입합니다.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Both"/>
            </a:pPr>
            <a:r>
              <a:rPr lang="en-US"/>
              <a:t>DATA(8비트 데이터를 한 비트씩 순차적으로 읽어 저장합니다.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b_tick_cnt 가 15가 될때마다 신호를 읽습니다. data_reg에 현재 rx 값을 저장하고 옆으로 시프트 합니다. 이 과정을 bit_cnt가 7이 될때까지 총 8번 반복합니다. 8비트를 모두 받으면 데이터를 마무리하기 위해 stop 상태로 이동합니다.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Both"/>
            </a:pPr>
            <a:r>
              <a:rPr lang="en-US"/>
              <a:t>STOP(통신의 끝을 알리는 STOP BIT를 확인하고 프로세스를 종료합니다.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b_tick_cnt가 23이 될떄까지 기다립니다. 카운트가 끝나면 rx_done = 1 신호를 발생시켜 “수신 완료”를 알리고 다시 idle 상태로 복귀합니다.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"이 ASM 차트의 핵심은 </a:t>
            </a:r>
            <a:r>
              <a:rPr b="1" lang="en-US">
                <a:solidFill>
                  <a:schemeClr val="dk1"/>
                </a:solidFill>
              </a:rPr>
              <a:t>16배속 오버샘플링을 이용한 정밀 제어</a:t>
            </a:r>
            <a:r>
              <a:rPr lang="en-US">
                <a:solidFill>
                  <a:schemeClr val="dk1"/>
                </a:solidFill>
              </a:rPr>
              <a:t>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IDLE</a:t>
            </a:r>
            <a:r>
              <a:rPr lang="en-US">
                <a:solidFill>
                  <a:schemeClr val="dk1"/>
                </a:solidFill>
              </a:rPr>
              <a:t>에서 시작 신호를 찾고, </a:t>
            </a:r>
            <a:r>
              <a:rPr b="1" lang="en-US">
                <a:solidFill>
                  <a:schemeClr val="dk1"/>
                </a:solidFill>
              </a:rPr>
              <a:t>START</a:t>
            </a:r>
            <a:r>
              <a:rPr lang="en-US">
                <a:solidFill>
                  <a:schemeClr val="dk1"/>
                </a:solidFill>
              </a:rPr>
              <a:t>에서 비트의 정중앙 타이밍을 잡은 뒤, </a:t>
            </a:r>
            <a:r>
              <a:rPr b="1" lang="en-US">
                <a:solidFill>
                  <a:schemeClr val="dk1"/>
                </a:solidFill>
              </a:rPr>
              <a:t>DATA</a:t>
            </a:r>
            <a:r>
              <a:rPr lang="en-US">
                <a:solidFill>
                  <a:schemeClr val="dk1"/>
                </a:solidFill>
              </a:rPr>
              <a:t> 상태에서 8번의 시프트 연산을 통해 직렬 신호를 병렬로 복원합니다. 마지막으로 </a:t>
            </a:r>
            <a:r>
              <a:rPr b="1" lang="en-US">
                <a:solidFill>
                  <a:schemeClr val="dk1"/>
                </a:solidFill>
              </a:rPr>
              <a:t>STOP</a:t>
            </a:r>
            <a:r>
              <a:rPr lang="en-US">
                <a:solidFill>
                  <a:schemeClr val="dk1"/>
                </a:solidFill>
              </a:rPr>
              <a:t>에서 충분한 대기 시간을 거쳐 </a:t>
            </a:r>
            <a:r>
              <a:rPr b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RX_done</a:t>
            </a:r>
            <a:r>
              <a:rPr lang="en-US">
                <a:solidFill>
                  <a:schemeClr val="dk1"/>
                </a:solidFill>
              </a:rPr>
              <a:t> 신호를 발생시킴으로써 안정적인 데이터 수신 루프를 완성합니다."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d945aabcb5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61982b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e61982b48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61982b48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이 과정을 거치며 약 2클럭의 지연이 발생하지만, 이를 통해 불안정한 전압 상태를 배제하고 시스템 클럭에 완벽히 정렬된(Aligned) 안전한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rx_sync2</a:t>
            </a:r>
            <a:r>
              <a:rPr lang="en-US">
                <a:solidFill>
                  <a:schemeClr val="dk1"/>
                </a:solidFill>
              </a:rPr>
              <a:t> 신호를 확보할 수 있습니다."</a:t>
            </a:r>
            <a:endParaRPr/>
          </a:p>
        </p:txBody>
      </p:sp>
      <p:sp>
        <p:nvSpPr>
          <p:cNvPr id="251" name="Google Shape;251;g3e61982b48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마지막으로 uart 루프백 시스템의 전체적인 하드웨어 구조와 데이터 흐름을 블록 다이어그램을 통해서 설명하겠습니다.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외부 통신 환경 (pc&lt;-&gt;fpga)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pc와 fpga는 rx(수신)와 tx(송신) 두개의 라인으로 연결되어 있습니다.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pc가 데이터를 보내면 fpga의 rx 핀으로 입력되고, fpga가 처리를 마치면 다시 tx 핀을 통해 pc로 돌려주는 구조입니다.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데이터 수신 및 동기화 (baud_tick_gen &amp; uart_rx)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시스템의 심장부인 baud_tick_gen은 보드의 빠른 클럭을 쪼개어 uart_rx와 tx 모듈이 약속된 속도로 움직일 수 있도로 b_tick 신호를 공급합니다.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uart_rx 모듈은 이 박자에 맞춰 pc에서 온 직렬 데이터를 8비트 병렬 데이터로 복원합니다. 복원이 완료되면 rx_done 신호를 발생시켜 데이터가 준비되었음을 시스템에 알립니다.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루프백의 핵심(rx&lt;-&gt;tx) 연결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블록 다이어그램 중앙의 연결선을 보시면 rx_data가 tx_data로 rx_done 신호가 tx_start로 직접 연결된 것을 확인할 수 있습니다.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이 설계 덕분에 수신이 완료되는 즉시 별도의 제어 없이 송신 모듈이 트리거 되며, 받은 데이터를 그대로 복사하여 회신할 준비를 마칩니다.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데이터 회신 및 상태 표시(uart_tx)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트리거를 받은 uart_tx 모듈은 데이터를 다시 uart 규격의 직렬 신호로 변환하여 pc로 송출합니다. 이때 tx_busy 신호를 통해 현재 신호가 전송중임을 외부에 알리며 시스템의 안정성을 보장합니다.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결론적으로 이 루프백 구조의 핵심은 수신 완료(rx_done)가 곧 송신 시작(tx_start)이 되는 즉각적인 데이터 미러링입니다. 이를 통해 fpga 내부에서 데이터가 왜곡없이 처리되는지 실시간으로 검증할 수 있으며, 이는 향후 고도화된 시스템 설계에 있어 가장 기본이 되는 통신 무결성 확보의 핵심 로직입니다.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[나의 모르는 내용 정리]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PC → FPGA (직렬):</a:t>
            </a:r>
            <a:r>
              <a:rPr lang="en-US">
                <a:solidFill>
                  <a:schemeClr val="dk1"/>
                </a:solidFill>
              </a:rPr>
              <a:t> 전선 아끼려고 1차로로 보냄.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RX 모듈 (병렬화):</a:t>
            </a:r>
            <a:r>
              <a:rPr lang="en-US">
                <a:solidFill>
                  <a:schemeClr val="dk1"/>
                </a:solidFill>
              </a:rPr>
              <a:t> FPGA 안에서 처리하기 편하게 </a:t>
            </a:r>
            <a:r>
              <a:rPr b="1" lang="en-US">
                <a:solidFill>
                  <a:schemeClr val="dk1"/>
                </a:solidFill>
              </a:rPr>
              <a:t>시프트 레지스터</a:t>
            </a:r>
            <a:r>
              <a:rPr lang="en-US">
                <a:solidFill>
                  <a:schemeClr val="dk1"/>
                </a:solidFill>
              </a:rPr>
              <a:t>로 8개를 모음. (SIPO)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Loopback (데이터 복사):</a:t>
            </a:r>
            <a:r>
              <a:rPr lang="en-US">
                <a:solidFill>
                  <a:schemeClr val="dk1"/>
                </a:solidFill>
              </a:rPr>
              <a:t> 8비트 뭉치를 그대로 송신기로 넘김.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TX 모듈 (직렬화):</a:t>
            </a:r>
            <a:r>
              <a:rPr lang="en-US">
                <a:solidFill>
                  <a:schemeClr val="dk1"/>
                </a:solidFill>
              </a:rPr>
              <a:t> 다시 PC로 보내려니 도로가 1차로뿐이라 </a:t>
            </a:r>
            <a:r>
              <a:rPr b="1" lang="en-US">
                <a:solidFill>
                  <a:schemeClr val="dk1"/>
                </a:solidFill>
              </a:rPr>
              <a:t>시프트 레지스터</a:t>
            </a:r>
            <a:r>
              <a:rPr lang="en-US">
                <a:solidFill>
                  <a:schemeClr val="dk1"/>
                </a:solidFill>
              </a:rPr>
              <a:t>로 하나씩 풀어서 보냄. (PISO)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FPGA → PC (직렬):</a:t>
            </a:r>
            <a:r>
              <a:rPr lang="en-US">
                <a:solidFill>
                  <a:schemeClr val="dk1"/>
                </a:solidFill>
              </a:rPr>
              <a:t> 다시 1차로를 타고 PC로 돌아감.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61982b48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현재 목표 보레이트는 9600 bps이며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정밀한 샘플링을 위해, 16배속으로 오버 샘플링을 적용했습니다..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따라서 필요한 틱 주파수는 153.6khz이며 주기는 6.5104 us이고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이를 시뮬레이션을 통해 검증해보면, 6.51로 16개의 틱이 하나의 주기(1사이클)을 형성하게 되어 , 비동기 통신의 오차를 완벽히 극복하였습니다.</a:t>
            </a:r>
            <a:endParaRPr/>
          </a:p>
        </p:txBody>
      </p:sp>
      <p:sp>
        <p:nvSpPr>
          <p:cNvPr id="283" name="Google Shape;283;g3e61982b481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1982b48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UART 통신에서 IDLE(대기) 상태의 신호는 항상 </a:t>
            </a:r>
            <a:r>
              <a:rPr b="1"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1(High)</a:t>
            </a:r>
            <a:r>
              <a:rPr b="1" lang="en-US">
                <a:solidFill>
                  <a:schemeClr val="dk1"/>
                </a:solidFill>
              </a:rPr>
              <a:t>을 유지</a:t>
            </a:r>
            <a:r>
              <a:rPr lang="en-US">
                <a:solidFill>
                  <a:schemeClr val="dk1"/>
                </a:solidFill>
              </a:rPr>
              <a:t>합니다.</a:t>
            </a:r>
            <a:endParaRPr/>
          </a:p>
        </p:txBody>
      </p:sp>
      <p:sp>
        <p:nvSpPr>
          <p:cNvPr id="301" name="Google Shape;301;g3e61982b481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61982b48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data 상태에 진이하고, 외부 핀 tx에 데이터 레지스터 0번 비트를 실어 보냅니다.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한비트를 보내는 시간을 정확히 채우기 위해 틱 카운트를 15까지 세고, 한비트 전송이 끝나면 데이터를 오른쪽으로 시프트 시켜 다음 클록에서 그다음 비트가 tx로 실어 보낼 준비를 합니다.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-US"/>
              <a:t>이 과정을 8번 반복하며 8비트 전체를 전송합니다.</a:t>
            </a:r>
            <a:endParaRPr/>
          </a:p>
        </p:txBody>
      </p:sp>
      <p:sp>
        <p:nvSpPr>
          <p:cNvPr id="321" name="Google Shape;321;g3e61982b481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61982b48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e61982b481_0_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외부 신호 rx 가 들어왔을 때</a:t>
            </a:r>
            <a:endParaRPr/>
          </a:p>
        </p:txBody>
      </p:sp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61982b48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3e61982b481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96ba28e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g3d96ba28e0f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96ba28e0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아래 파형에서 확인할 수 있듯이, next 신호에서 먼저 계산해 놓은 값은 다음 클럭 엣지에서 레지스터에 저장됩니다. 이러한 구조는 FPGA 설계에서 메타스테이블을 방지하고 정확한 타이밍 시뮬레이션을 가능하게 합니다.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8" name="Google Shape;418;g3d96ba28e0f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96ba28e0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g3d96ba28e0f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96ba28e0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g3d96ba28e0f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96ba28e0f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g3d96ba28e0f_0_3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96ba28e0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97" name="Google Shape;497;g3d96ba28e0f_0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96ba28e0f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g3d96ba28e0f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4.png"/><Relationship Id="rId13" Type="http://schemas.openxmlformats.org/officeDocument/2006/relationships/image" Target="../media/image12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14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15" Type="http://schemas.openxmlformats.org/officeDocument/2006/relationships/image" Target="../media/image33.png"/><Relationship Id="rId14" Type="http://schemas.openxmlformats.org/officeDocument/2006/relationships/image" Target="../media/image21.png"/><Relationship Id="rId17" Type="http://schemas.openxmlformats.org/officeDocument/2006/relationships/image" Target="../media/image24.png"/><Relationship Id="rId16" Type="http://schemas.openxmlformats.org/officeDocument/2006/relationships/image" Target="../media/image29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41.png"/><Relationship Id="rId13" Type="http://schemas.openxmlformats.org/officeDocument/2006/relationships/image" Target="../media/image22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5" Type="http://schemas.openxmlformats.org/officeDocument/2006/relationships/image" Target="../media/image28.png"/><Relationship Id="rId14" Type="http://schemas.openxmlformats.org/officeDocument/2006/relationships/image" Target="../media/image34.png"/><Relationship Id="rId17" Type="http://schemas.openxmlformats.org/officeDocument/2006/relationships/image" Target="../media/image36.png"/><Relationship Id="rId16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6.png"/><Relationship Id="rId13" Type="http://schemas.openxmlformats.org/officeDocument/2006/relationships/image" Target="../media/image49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9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Relationship Id="rId7" Type="http://schemas.openxmlformats.org/officeDocument/2006/relationships/image" Target="../media/image44.png"/><Relationship Id="rId8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1.png"/><Relationship Id="rId1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1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1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1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1.png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9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69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76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14" Type="http://schemas.openxmlformats.org/officeDocument/2006/relationships/image" Target="../media/image72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73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71.png"/><Relationship Id="rId1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14" Type="http://schemas.openxmlformats.org/officeDocument/2006/relationships/image" Target="../media/image84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86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82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14" Type="http://schemas.openxmlformats.org/officeDocument/2006/relationships/image" Target="../media/image8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89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77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14" Type="http://schemas.openxmlformats.org/officeDocument/2006/relationships/image" Target="../media/image83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88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14" Type="http://schemas.openxmlformats.org/officeDocument/2006/relationships/image" Target="../media/image81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78.png"/><Relationship Id="rId1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41.png"/><Relationship Id="rId13" Type="http://schemas.openxmlformats.org/officeDocument/2006/relationships/image" Target="../media/image90.png"/><Relationship Id="rId1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7.png"/><Relationship Id="rId14" Type="http://schemas.openxmlformats.org/officeDocument/2006/relationships/image" Target="../media/image98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41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96.png"/><Relationship Id="rId13" Type="http://schemas.openxmlformats.org/officeDocument/2006/relationships/image" Target="../media/image12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3.png"/><Relationship Id="rId4" Type="http://schemas.openxmlformats.org/officeDocument/2006/relationships/image" Target="../media/image100.png"/><Relationship Id="rId9" Type="http://schemas.openxmlformats.org/officeDocument/2006/relationships/image" Target="../media/image99.png"/><Relationship Id="rId14" Type="http://schemas.openxmlformats.org/officeDocument/2006/relationships/image" Target="../media/image92.png"/><Relationship Id="rId5" Type="http://schemas.openxmlformats.org/officeDocument/2006/relationships/image" Target="../media/image9.png"/><Relationship Id="rId6" Type="http://schemas.openxmlformats.org/officeDocument/2006/relationships/image" Target="../media/image101.png"/><Relationship Id="rId7" Type="http://schemas.openxmlformats.org/officeDocument/2006/relationships/image" Target="../media/image97.png"/><Relationship Id="rId8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EF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800" y="1447800"/>
            <a:ext cx="20954998" cy="122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01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9182100"/>
            <a:ext cx="22415499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960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1800" y="1651000"/>
            <a:ext cx="20954998" cy="1206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1800" y="1854200"/>
            <a:ext cx="20954998" cy="118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284200" y="15494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01800" y="1921350"/>
            <a:ext cx="20954998" cy="1179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7100" y="11772900"/>
            <a:ext cx="22529799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83400" y="12331700"/>
            <a:ext cx="5334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1100" y="13106400"/>
            <a:ext cx="98679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4508500" y="3733800"/>
            <a:ext cx="1539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7150" lIns="0" spcFirstLastPara="1" rIns="0" wrap="square" tIns="1671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UART LOOPBACK</a:t>
            </a:r>
            <a:endParaRPr b="0" i="0" sz="4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235700" y="8077200"/>
            <a:ext cx="119127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975" lIns="0" spcFirstLastPara="1" rIns="0" wrap="square" tIns="679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TX / RX 모듈 설계 및 통합 시스템 구현</a:t>
            </a:r>
            <a:endParaRPr b="0" i="0" sz="30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2026.04.27</a:t>
            </a:r>
            <a:endParaRPr b="0" i="0" sz="30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658100" y="12458700"/>
            <a:ext cx="97409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25" lIns="0" spcFirstLastPara="1" rIns="0" wrap="square" tIns="31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온디바이스 AI 2기 이찬미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055100" y="2247900"/>
            <a:ext cx="6286500" cy="23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825" lIns="0" spcFirstLastPara="1" rIns="0" wrap="square" tIns="1648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78"/>
              <a:buFont typeface="Arial"/>
              <a:buNone/>
            </a:pPr>
            <a:r>
              <a:rPr b="0" i="0" lang="en-US" sz="12979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56642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5549900" y="49022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개요 및 목적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74295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5549900" y="66675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시스템 사양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91948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549900" y="84328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TX / RX / LOOPBACK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68900" y="109982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5549900" y="102235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및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46500" y="4953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/>
          <p:nvPr/>
        </p:nvSpPr>
        <p:spPr>
          <a:xfrm>
            <a:off x="3822700" y="52578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46500" y="67056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 txBox="1"/>
          <p:nvPr/>
        </p:nvSpPr>
        <p:spPr>
          <a:xfrm>
            <a:off x="3822700" y="6997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21100" y="84836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 txBox="1"/>
          <p:nvPr/>
        </p:nvSpPr>
        <p:spPr>
          <a:xfrm>
            <a:off x="3797300" y="8775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21100" y="10287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 txBox="1"/>
          <p:nvPr/>
        </p:nvSpPr>
        <p:spPr>
          <a:xfrm>
            <a:off x="3797300" y="105791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56642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14693900" y="49022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구현 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74295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 txBox="1"/>
          <p:nvPr/>
        </p:nvSpPr>
        <p:spPr>
          <a:xfrm>
            <a:off x="14693900" y="66675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Trouble shooting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312900" y="9194800"/>
            <a:ext cx="60198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"/>
          <p:cNvSpPr txBox="1"/>
          <p:nvPr/>
        </p:nvSpPr>
        <p:spPr>
          <a:xfrm>
            <a:off x="14693900" y="8432800"/>
            <a:ext cx="5321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525" lIns="0" spcFirstLastPara="1" rIns="0" wrap="square" tIns="73525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1"/>
              <a:buFont typeface="Arial"/>
              <a:buNone/>
            </a:pPr>
            <a:r>
              <a:rPr b="0" i="0" lang="en-US" sz="399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결론 및 고찰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2890500" y="49530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/>
        </p:nvSpPr>
        <p:spPr>
          <a:xfrm>
            <a:off x="12966700" y="52451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890500" y="66929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12966700" y="6997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2877800" y="8470900"/>
            <a:ext cx="1422400" cy="14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 txBox="1"/>
          <p:nvPr/>
        </p:nvSpPr>
        <p:spPr>
          <a:xfrm>
            <a:off x="12941300" y="8775700"/>
            <a:ext cx="1270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650" lIns="0" spcFirstLastPara="1" rIns="0" wrap="square" tIns="626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33"/>
              <a:buFont typeface="Arial"/>
              <a:buNone/>
            </a:pPr>
            <a:r>
              <a:rPr b="0" i="0" lang="en-US" sz="49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800" cy="112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467600" y="2336800"/>
            <a:ext cx="11303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개요 및 목적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60700" y="6105450"/>
            <a:ext cx="5778500" cy="633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75200" y="6778550"/>
            <a:ext cx="2336800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4064000" y="9572550"/>
            <a:ext cx="3771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9"/>
              <a:buFont typeface="Arial"/>
              <a:buNone/>
            </a:pPr>
            <a:r>
              <a:rPr b="0" i="0" lang="en-US" sz="371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데이터 변환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073300" y="10398050"/>
            <a:ext cx="57786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8bit 병렬 데이터를 직렬로 변환 전송</a:t>
            </a:r>
            <a:b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(TX : PISO)</a:t>
            </a:r>
            <a:endParaRPr b="0" i="0" sz="24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수신된 직렬 데이터를 8bit 병렬로 복원 </a:t>
            </a:r>
            <a:endParaRPr b="0" i="0" sz="24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(RX : SIPO)</a:t>
            </a:r>
            <a:endParaRPr b="0" i="0" sz="24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09100" y="6105450"/>
            <a:ext cx="5778500" cy="633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023600" y="6778550"/>
            <a:ext cx="2336800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10312400" y="9572550"/>
            <a:ext cx="3771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9"/>
              <a:buFont typeface="Arial"/>
              <a:buNone/>
            </a:pPr>
            <a:r>
              <a:rPr b="0" i="0" lang="en-US" sz="371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오버샘플링 복원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9698850" y="10398050"/>
            <a:ext cx="4986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16배속 오버샘플링을 적용하여 노이즈를 필터링하고 비트 중앙에서 정밀 샘플링을 수행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5544800" y="6105450"/>
            <a:ext cx="5778500" cy="633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7272000" y="6778550"/>
            <a:ext cx="2336800" cy="23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16548100" y="9572550"/>
            <a:ext cx="37719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9"/>
              <a:buFont typeface="Arial"/>
              <a:buNone/>
            </a:pPr>
            <a:r>
              <a:rPr b="0" i="0" lang="en-US" sz="371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Loopback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6198900" y="10613900"/>
            <a:ext cx="44703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데이터 루프백 구성을 통해, PC와 FPGA 사이의 통신 선로 안정성 검증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663375" y="7539750"/>
            <a:ext cx="839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b="0" i="0" sz="5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1898675" y="7539750"/>
            <a:ext cx="839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b="0" i="0" sz="5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18133975" y="7539750"/>
            <a:ext cx="8391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b="0" i="0" sz="5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2178875" y="4545525"/>
            <a:ext cx="196701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"UART는 별도의 클럭 공유 없이 정해진 속도로 데이터를 주고받는 비동기 통신입니다. 본 설계에서는 비동기 통신의 고질적인 문제인 '박자 어긋남'과 '신호 불안정성'을 해결하기 위해 오버샘플링과 싱크로나이저 로직을 통합 구현하였습니다."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7900" y="1574800"/>
            <a:ext cx="22402800" cy="112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7467600" y="2336800"/>
            <a:ext cx="11303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시스템 사양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10"/>
          <p:cNvGraphicFramePr/>
          <p:nvPr/>
        </p:nvGraphicFramePr>
        <p:xfrm>
          <a:off x="2463800" y="561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{50369726-DA3B-4A34-A058-0BFFFBD155DA}</a:tableStyleId>
              </a:tblPr>
              <a:tblGrid>
                <a:gridCol w="4269350"/>
                <a:gridCol w="5446150"/>
                <a:gridCol w="9271000"/>
              </a:tblGrid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항목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설정 값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상세 설명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System Clock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100 MHz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FPGA 시스템 메인 클럭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Baud Rate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9600 bps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1 bit period = 10,417 Clocks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Sampling Rate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16x Oversampling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Bit-center sampling at 8th tick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Data protocol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8-N-1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8 Data bits, No Parity, 1 Stop bit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5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Bit Order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LSB first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888888"/>
                          </a:solidFill>
                        </a:rPr>
                        <a:t>최하위 비트(bit 0)부터 순차 전송</a:t>
                      </a:r>
                      <a:endParaRPr sz="30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72800" marB="728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185" name="Google Shape;18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00330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12776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89027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33858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46304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22428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167386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79705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55956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10800000">
            <a:off x="15722600" y="11671300"/>
            <a:ext cx="23749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20078700" y="11671300"/>
            <a:ext cx="2667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213233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18948400" y="11671300"/>
            <a:ext cx="26670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10800000">
            <a:off x="19075400" y="11671300"/>
            <a:ext cx="2374900" cy="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d945aabcb5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945aabcb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d945aabcb5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d945aabcb5_0_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d945aabcb5_0_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d945aabcb5_0_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d945aabcb5_0_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d945aabcb5_0_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d945aabcb5_0_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d945aabcb5_0_23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d945aabcb5_0_23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TX ASM (PISO)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d945aabcb5_0_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57540" y="4514627"/>
            <a:ext cx="20268925" cy="799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g3d945aabcb5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d945aabcb5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d945aabcb5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d945aabcb5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d945aabcb5_0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d945aabcb5_0_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d945aabcb5_0_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d945aabcb5_0_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d945aabcb5_0_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d945aabcb5_0_1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d945aabcb5_0_1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RX ASM (SIPO)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d945aabcb5_0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13363" y="4978500"/>
            <a:ext cx="18706475" cy="713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d945aabcb5_0_1"/>
          <p:cNvSpPr/>
          <p:nvPr/>
        </p:nvSpPr>
        <p:spPr>
          <a:xfrm>
            <a:off x="4257375" y="8340575"/>
            <a:ext cx="2215500" cy="745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3e61982b48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g3e61982b48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e61982b48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e61982b48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e61982b481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e61982b481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e61982b481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e61982b481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e61982b481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e61982b481_0_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e61982b481_0_0"/>
          <p:cNvSpPr txBox="1"/>
          <p:nvPr/>
        </p:nvSpPr>
        <p:spPr>
          <a:xfrm>
            <a:off x="7467600" y="2336800"/>
            <a:ext cx="133245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RX (Syncronizer)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3e61982b481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49600" y="9055100"/>
            <a:ext cx="7429501" cy="25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g3e61982b481_0_0"/>
          <p:cNvGraphicFramePr/>
          <p:nvPr/>
        </p:nvGraphicFramePr>
        <p:xfrm>
          <a:off x="2321625" y="497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{50369726-DA3B-4A34-A058-0BFFFBD155DA}</a:tableStyleId>
              </a:tblPr>
              <a:tblGrid>
                <a:gridCol w="3116550"/>
                <a:gridCol w="7780050"/>
                <a:gridCol w="8793325"/>
              </a:tblGrid>
              <a:tr h="17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구분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25400" marB="2540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오버 샘플링(16tick)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싱크로나이저(2-stage FF)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7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목표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데이터 샘플링 시점 최적화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신호 안정화 및 동기화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7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해결 문제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Baud Rate 오차 극복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메타스테이블 (불안정 상태) 차단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174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핵심 역할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86350" marB="86350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비트의 정중앙 지점 포착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cap="none" strike="noStrike">
                          <a:solidFill>
                            <a:srgbClr val="888888"/>
                          </a:solidFill>
                        </a:rPr>
                        <a:t>비동기 신호의 논리 레벨 고정</a:t>
                      </a:r>
                      <a:endParaRPr sz="3200" u="none" cap="none" strike="noStrike">
                        <a:solidFill>
                          <a:srgbClr val="888888"/>
                        </a:solidFill>
                      </a:endParaRPr>
                    </a:p>
                  </a:txBody>
                  <a:tcPr marT="60375" marB="60375" marR="25400" marL="25400" anchor="ctr">
                    <a:lnL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8787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e61982b481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e61982b481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e61982b481_0_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e61982b481_0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e61982b481_0_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e61982b481_0_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e61982b481_0_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e61982b481_0_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e61982b481_0_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e61982b481_0_19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e61982b481_0_19"/>
          <p:cNvSpPr txBox="1"/>
          <p:nvPr/>
        </p:nvSpPr>
        <p:spPr>
          <a:xfrm>
            <a:off x="7467599" y="2336800"/>
            <a:ext cx="12165107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RX (Syncronizer)</a:t>
            </a:r>
            <a:r>
              <a:rPr b="0" i="0" lang="en-US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RTL Design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e61982b481_0_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0" y="4762500"/>
            <a:ext cx="13210450" cy="773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800" cy="1127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"/>
          <p:cNvSpPr txBox="1"/>
          <p:nvPr/>
        </p:nvSpPr>
        <p:spPr>
          <a:xfrm>
            <a:off x="7467600" y="2336800"/>
            <a:ext cx="113030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Loopback Block Diagram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09928" y="4419603"/>
            <a:ext cx="16471276" cy="829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e61982b481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e61982b481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e61982b481_0_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e61982b481_0_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e61982b481_0_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e61982b481_0_9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e61982b481_0_9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146685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3e61982b481_0_9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3e61982b481_0_9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e61982b481_0_9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e61982b481_0_90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b_tick 주기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3e61982b481_0_9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84750" y="5028150"/>
            <a:ext cx="8135375" cy="67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e61982b481_0_9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815025" y="7043655"/>
            <a:ext cx="6262150" cy="274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e61982b481_0_90"/>
          <p:cNvSpPr/>
          <p:nvPr/>
        </p:nvSpPr>
        <p:spPr>
          <a:xfrm>
            <a:off x="8146925" y="5028150"/>
            <a:ext cx="1892100" cy="848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e61982b481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e61982b481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e61982b481_0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g3e61982b481_0_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e61982b481_0_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e61982b481_0_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e61982b481_0_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e61982b481_0_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e61982b481_0_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e61982b481_0_39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61982b481_0_39"/>
          <p:cNvSpPr txBox="1"/>
          <p:nvPr/>
        </p:nvSpPr>
        <p:spPr>
          <a:xfrm>
            <a:off x="7467600" y="2336800"/>
            <a:ext cx="137133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TX (IDLE / START)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e61982b481_0_3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58962" y="10917488"/>
            <a:ext cx="3108001" cy="7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e61982b481_0_39"/>
          <p:cNvSpPr txBox="1"/>
          <p:nvPr/>
        </p:nvSpPr>
        <p:spPr>
          <a:xfrm>
            <a:off x="6958951" y="11004825"/>
            <a:ext cx="26931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TX_START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g3e61982b481_0_3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34281" y="4978500"/>
            <a:ext cx="11126119" cy="56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e61982b481_0_39"/>
          <p:cNvSpPr/>
          <p:nvPr/>
        </p:nvSpPr>
        <p:spPr>
          <a:xfrm>
            <a:off x="7467600" y="4888150"/>
            <a:ext cx="1410000" cy="1287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g3e61982b481_0_3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360395" y="4888150"/>
            <a:ext cx="9323375" cy="6772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e61982b481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e61982b481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e61982b481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e61982b481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e61982b481_0_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e61982b481_0_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e61982b481_0_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e61982b481_0_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e61982b481_0_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e61982b481_0_65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61982b481_0_65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TX (DATA)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g3e61982b481_0_6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35156" y="4380294"/>
            <a:ext cx="20821324" cy="42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e61982b481_0_65"/>
          <p:cNvSpPr/>
          <p:nvPr/>
        </p:nvSpPr>
        <p:spPr>
          <a:xfrm>
            <a:off x="9247175" y="4584925"/>
            <a:ext cx="1553100" cy="2599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g3e61982b481_0_6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67600" y="8796650"/>
            <a:ext cx="7012899" cy="374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g3e61982b481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e61982b481_0_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e61982b481_0_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e61982b481_0_1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e61982b481_0_1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e61982b481_0_1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e61982b481_0_1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g3e61982b481_0_1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e61982b481_0_1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e61982b481_0_145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e61982b481_0_145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TX (STOP)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g3e61982b481_0_1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276650" y="4762500"/>
            <a:ext cx="14030150" cy="348430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e61982b481_0_145"/>
          <p:cNvSpPr/>
          <p:nvPr/>
        </p:nvSpPr>
        <p:spPr>
          <a:xfrm>
            <a:off x="13828450" y="6473775"/>
            <a:ext cx="1553100" cy="726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g3e61982b481_0_1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05749" y="9771238"/>
            <a:ext cx="3108001" cy="7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e61982b481_0_145"/>
          <p:cNvSpPr txBox="1"/>
          <p:nvPr/>
        </p:nvSpPr>
        <p:spPr>
          <a:xfrm>
            <a:off x="9324677" y="9860688"/>
            <a:ext cx="24891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TX busy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g3e61982b481_0_1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7837150" y="4762488"/>
            <a:ext cx="3905250" cy="65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800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800" cy="117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800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7"/>
          <p:cNvSpPr txBox="1"/>
          <p:nvPr/>
        </p:nvSpPr>
        <p:spPr>
          <a:xfrm>
            <a:off x="6045200" y="2844800"/>
            <a:ext cx="965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7"/>
          <p:cNvSpPr txBox="1"/>
          <p:nvPr/>
        </p:nvSpPr>
        <p:spPr>
          <a:xfrm>
            <a:off x="7467599" y="2336800"/>
            <a:ext cx="12613341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– RX (Syncronizer)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94938" y="10001750"/>
            <a:ext cx="19143326" cy="21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 txBox="1"/>
          <p:nvPr/>
        </p:nvSpPr>
        <p:spPr>
          <a:xfrm>
            <a:off x="2759575" y="10179550"/>
            <a:ext cx="188244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0" marR="0" rtl="0" algn="ctr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외부 신호 rx 유입 시, 2단 플립플롭을 거쳐 내부 시스템에 완벽히 동기화된 rx_sync2 생성.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t/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파형상의 계단 형태 지연은 비동기 신호의 불안정성을 제거하고, 메타스테이블 방지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03750" y="5671398"/>
            <a:ext cx="19538641" cy="30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7"/>
          <p:cNvSpPr/>
          <p:nvPr/>
        </p:nvSpPr>
        <p:spPr>
          <a:xfrm>
            <a:off x="2300100" y="6952825"/>
            <a:ext cx="2004300" cy="1727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14787450" y="5670450"/>
            <a:ext cx="2271900" cy="23241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e61982b481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g3e61982b481_0_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g3e61982b481_0_1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g3e61982b481_0_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e61982b481_0_1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g3e61982b481_0_1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g3e61982b481_0_1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e61982b481_0_1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e61982b481_0_1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e61982b481_0_118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e61982b481_0_118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RX (IDLE)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g3e61982b481_0_1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64700" y="4762501"/>
            <a:ext cx="21278877" cy="314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e61982b481_0_1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35400" y="8416725"/>
            <a:ext cx="11926329" cy="66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e61982b481_0_118"/>
          <p:cNvSpPr/>
          <p:nvPr/>
        </p:nvSpPr>
        <p:spPr>
          <a:xfrm>
            <a:off x="4810725" y="6305775"/>
            <a:ext cx="204900" cy="20496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61982b481_0_118"/>
          <p:cNvSpPr/>
          <p:nvPr/>
        </p:nvSpPr>
        <p:spPr>
          <a:xfrm>
            <a:off x="9295925" y="4599625"/>
            <a:ext cx="1092300" cy="7656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g3e61982b481_0_1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189700" y="7908723"/>
            <a:ext cx="4354650" cy="48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e61982b481_0_118"/>
          <p:cNvSpPr/>
          <p:nvPr/>
        </p:nvSpPr>
        <p:spPr>
          <a:xfrm>
            <a:off x="7010300" y="6652450"/>
            <a:ext cx="15915300" cy="1341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g3d96ba28e0f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3d96ba28e0f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d96ba28e0f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d96ba28e0f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g3d96ba28e0f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d96ba28e0f_0_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d96ba28e0f_0_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655525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d96ba28e0f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g3d96ba28e0f_0_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d96ba28e0f_0_4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d96ba28e0f_0_4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RX (START)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g3d96ba28e0f_0_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43200" y="5088413"/>
            <a:ext cx="21297576" cy="154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d96ba28e0f_0_4"/>
          <p:cNvSpPr/>
          <p:nvPr/>
        </p:nvSpPr>
        <p:spPr>
          <a:xfrm>
            <a:off x="10965188" y="4990338"/>
            <a:ext cx="1645200" cy="1607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g3d96ba28e0f_0_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81938" y="6934200"/>
            <a:ext cx="7419975" cy="56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g3d96ba28e0f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d96ba28e0f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d96ba28e0f_0_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d96ba28e0f_0_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g3d96ba28e0f_0_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3d96ba28e0f_0_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3d96ba28e0f_0_6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655525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d96ba28e0f_0_6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d96ba28e0f_0_6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3d96ba28e0f_0_6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d96ba28e0f_0_67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RX (DATA)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d96ba28e0f_0_67"/>
          <p:cNvSpPr/>
          <p:nvPr/>
        </p:nvSpPr>
        <p:spPr>
          <a:xfrm>
            <a:off x="5986250" y="6533125"/>
            <a:ext cx="6427500" cy="367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d96ba28e0f_0_67"/>
          <p:cNvSpPr/>
          <p:nvPr/>
        </p:nvSpPr>
        <p:spPr>
          <a:xfrm>
            <a:off x="7073905" y="8149760"/>
            <a:ext cx="271500" cy="1249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g3d96ba28e0f_0_6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00480" y="9613805"/>
            <a:ext cx="9348027" cy="266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d96ba28e0f_0_67"/>
          <p:cNvSpPr/>
          <p:nvPr/>
        </p:nvSpPr>
        <p:spPr>
          <a:xfrm>
            <a:off x="6293725" y="9613800"/>
            <a:ext cx="651000" cy="26616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g3d96ba28e0f_0_6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144325" y="8032650"/>
            <a:ext cx="5017300" cy="481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d96ba28e0f_0_6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65300" y="4530513"/>
            <a:ext cx="22002592" cy="36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d96ba28e0f_0_67"/>
          <p:cNvSpPr/>
          <p:nvPr/>
        </p:nvSpPr>
        <p:spPr>
          <a:xfrm>
            <a:off x="5696175" y="7033275"/>
            <a:ext cx="16681200" cy="7386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g3d96ba28e0f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d96ba28e0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d96ba28e0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d96ba28e0f_0_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d96ba28e0f_0_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d96ba28e0f_0_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d96ba28e0f_0_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d96ba28e0f_0_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d96ba28e0f_0_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d96ba28e0f_0_37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d96ba28e0f_0_37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RX (STOP)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g3d96ba28e0f_0_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76599" y="10352438"/>
            <a:ext cx="3108001" cy="7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d96ba28e0f_0_37"/>
          <p:cNvSpPr txBox="1"/>
          <p:nvPr/>
        </p:nvSpPr>
        <p:spPr>
          <a:xfrm>
            <a:off x="9195527" y="10441888"/>
            <a:ext cx="24891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RX done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g3d96ba28e0f_0_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7682288" y="4748213"/>
            <a:ext cx="5172075" cy="67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d96ba28e0f_0_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084938" y="5469713"/>
            <a:ext cx="14925675" cy="331681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d96ba28e0f_0_37"/>
          <p:cNvSpPr/>
          <p:nvPr/>
        </p:nvSpPr>
        <p:spPr>
          <a:xfrm>
            <a:off x="10390900" y="5606750"/>
            <a:ext cx="1645200" cy="1607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g3d96ba28e0f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d96ba28e0f_0_1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d96ba28e0f_0_1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g3d96ba28e0f_0_1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d96ba28e0f_0_1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d96ba28e0f_0_18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d96ba28e0f_0_18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g3d96ba28e0f_0_18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d96ba28e0f_0_18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d96ba28e0f_0_186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d96ba28e0f_0_186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시뮬레이션 - LOOPBACK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g3d96ba28e0f_0_18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67000" y="9961850"/>
            <a:ext cx="13249999" cy="7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d96ba28e0f_0_186"/>
          <p:cNvSpPr txBox="1"/>
          <p:nvPr/>
        </p:nvSpPr>
        <p:spPr>
          <a:xfrm>
            <a:off x="5469400" y="9961850"/>
            <a:ext cx="133944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400" lIns="0" spcFirstLastPara="1" rIns="0" wrap="square" tIns="64400">
            <a:noAutofit/>
          </a:bodyPr>
          <a:lstStyle/>
          <a:p>
            <a:pPr indent="0" lvl="0" marL="45720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7"/>
              <a:buFont typeface="Arial"/>
              <a:buNone/>
            </a:pPr>
            <a:r>
              <a:rPr b="0" i="0" lang="en-US" sz="3497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입력 데이터 (8’h30) -&gt; RX 수신 -&gt; RX done, TX start -&gt; TX 송출</a:t>
            </a:r>
            <a:endParaRPr b="0" i="0" sz="3497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g3d96ba28e0f_0_18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05550" y="5391600"/>
            <a:ext cx="19436854" cy="289973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3d96ba28e0f_0_186"/>
          <p:cNvSpPr txBox="1"/>
          <p:nvPr/>
        </p:nvSpPr>
        <p:spPr>
          <a:xfrm>
            <a:off x="10299525" y="5478088"/>
            <a:ext cx="4759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0    0    0    0    1    1    0    0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d96ba28e0f_0_186"/>
          <p:cNvSpPr txBox="1"/>
          <p:nvPr/>
        </p:nvSpPr>
        <p:spPr>
          <a:xfrm>
            <a:off x="16337050" y="6220888"/>
            <a:ext cx="4759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0    0    0    0    1    1    0    0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96ba28e0f_0_186"/>
          <p:cNvSpPr/>
          <p:nvPr/>
        </p:nvSpPr>
        <p:spPr>
          <a:xfrm>
            <a:off x="15161300" y="6874450"/>
            <a:ext cx="809400" cy="13539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g3d96ba28e0f_0_3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d96ba28e0f_0_3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d96ba28e0f_0_3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d96ba28e0f_0_3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d96ba28e0f_0_3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g3d96ba28e0f_0_3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d96ba28e0f_0_3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g3d96ba28e0f_0_3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3d96ba28e0f_0_30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d96ba28e0f_0_30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d96ba28e0f_0_300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구현 영상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g3d96ba28e0f_0_30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19675" y="4393825"/>
            <a:ext cx="8319248" cy="8319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g3d96ba28e0f_0_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d96ba28e0f_0_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d96ba28e0f_0_2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g3d96ba28e0f_0_2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g3d96ba28e0f_0_2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g3d96ba28e0f_0_2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g3d96ba28e0f_0_2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d96ba28e0f_0_2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d96ba28e0f_0_2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d96ba28e0f_0_21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d96ba28e0f_0_210"/>
          <p:cNvSpPr txBox="1"/>
          <p:nvPr/>
        </p:nvSpPr>
        <p:spPr>
          <a:xfrm>
            <a:off x="7467600" y="2336800"/>
            <a:ext cx="11961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Trouble shooting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d96ba28e0f_0_210"/>
          <p:cNvSpPr txBox="1"/>
          <p:nvPr/>
        </p:nvSpPr>
        <p:spPr>
          <a:xfrm>
            <a:off x="16306800" y="6734250"/>
            <a:ext cx="4759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0    0    0    0    1    1    0    0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d96ba28e0f_0_210"/>
          <p:cNvSpPr txBox="1"/>
          <p:nvPr/>
        </p:nvSpPr>
        <p:spPr>
          <a:xfrm>
            <a:off x="9044700" y="6995875"/>
            <a:ext cx="77724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3"/>
              <a:buFont typeface="Arial"/>
              <a:buNone/>
            </a:pPr>
            <a: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파형 분석 중 TX는 STOP 진입 즉시 tx = 1로 전환되는 반면, RX는 STOP 진입 후 약 7틱이 지나서야 rx = 1로 전환되는 것을 발견 </a:t>
            </a:r>
            <a:endParaRPr b="0" i="0" sz="2033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3"/>
              <a:buFont typeface="Arial"/>
              <a:buNone/>
            </a:pPr>
            <a: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처음에는 RX가 마지막 비트를 제대로 수신하지 못한 오류로 의심</a:t>
            </a:r>
            <a:endParaRPr b="0" i="0" sz="2033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g3d96ba28e0f_0_2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16100" y="7055763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d96ba28e0f_0_210"/>
          <p:cNvSpPr txBox="1"/>
          <p:nvPr/>
        </p:nvSpPr>
        <p:spPr>
          <a:xfrm>
            <a:off x="7605000" y="7398663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현상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d96ba28e0f_0_210"/>
          <p:cNvSpPr txBox="1"/>
          <p:nvPr/>
        </p:nvSpPr>
        <p:spPr>
          <a:xfrm>
            <a:off x="9044700" y="8791250"/>
            <a:ext cx="77724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3"/>
              <a:buFont typeface="Arial"/>
              <a:buNone/>
            </a:pPr>
            <a: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16x 오버샘플링에서 비트 중앙(8번째 틱)에 샘플링하는 구조상, RX state는 실제 신호 전환보다 먼저 변경 </a:t>
            </a:r>
            <a:b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이로 인해 RX가 STOP에 선진입하고 rx 신호는 7틱 뒤에 1이 되는 타이밍 차이 발생. 이는 오류가 아닌 중앙 샘플링의 구조적 특성</a:t>
            </a:r>
            <a:endParaRPr b="0" i="0" sz="2033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g3d96ba28e0f_0_2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16100" y="8969350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d96ba28e0f_0_210"/>
          <p:cNvSpPr txBox="1"/>
          <p:nvPr/>
        </p:nvSpPr>
        <p:spPr>
          <a:xfrm>
            <a:off x="7605000" y="9312250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d96ba28e0f_0_210"/>
          <p:cNvSpPr txBox="1"/>
          <p:nvPr/>
        </p:nvSpPr>
        <p:spPr>
          <a:xfrm>
            <a:off x="8996200" y="10882925"/>
            <a:ext cx="77724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3"/>
              <a:buFont typeface="Arial"/>
              <a:buNone/>
            </a:pPr>
            <a: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STOP 대기 시간을 b_tick_cnt == 23으로 확장해 7틱의 여유를 확보 </a:t>
            </a:r>
            <a:b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RX가 선진입하더라도 rx 신호가 확실히 1로 안정화될 때까지 대기하도록 설계하여, TX/RX 파형에서 정상 동작을 최종 확인</a:t>
            </a:r>
            <a:endParaRPr b="0" i="0" sz="2033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3d96ba28e0f_0_2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67600" y="10942825"/>
            <a:ext cx="1397000" cy="13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d96ba28e0f_0_210"/>
          <p:cNvSpPr txBox="1"/>
          <p:nvPr/>
        </p:nvSpPr>
        <p:spPr>
          <a:xfrm>
            <a:off x="7556500" y="11285725"/>
            <a:ext cx="1219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해결 및 고찰</a:t>
            </a:r>
            <a:endParaRPr b="0" i="0" sz="2700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0" name="Google Shape;520;g3d96ba28e0f_0_2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22200" y="4376838"/>
            <a:ext cx="15488787" cy="249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d96ba28e0f_0_210"/>
          <p:cNvSpPr/>
          <p:nvPr/>
        </p:nvSpPr>
        <p:spPr>
          <a:xfrm flipH="1">
            <a:off x="14197300" y="4419700"/>
            <a:ext cx="965100" cy="1204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d96ba28e0f_0_210"/>
          <p:cNvSpPr/>
          <p:nvPr/>
        </p:nvSpPr>
        <p:spPr>
          <a:xfrm flipH="1">
            <a:off x="19253325" y="5624200"/>
            <a:ext cx="781800" cy="1204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DCE4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g3d96ba28e0f_0_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00" y="939800"/>
            <a:ext cx="22402799" cy="1192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d96ba28e0f_0_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8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g3d96ba28e0f_0_2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53200" y="6096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d96ba28e0f_0_2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900" y="1143000"/>
            <a:ext cx="22402799" cy="11709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3d96ba28e0f_0_2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7900" y="1358900"/>
            <a:ext cx="22402799" cy="114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3d96ba28e0f_0_2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0400" y="1041400"/>
            <a:ext cx="24892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g3d96ba28e0f_0_2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00" y="1574800"/>
            <a:ext cx="22402799" cy="112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g3d96ba28e0f_0_2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55800" y="4229100"/>
            <a:ext cx="20421598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3d96ba28e0f_0_2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1700" y="2628900"/>
            <a:ext cx="109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g3d96ba28e0f_0_230"/>
          <p:cNvSpPr txBox="1"/>
          <p:nvPr/>
        </p:nvSpPr>
        <p:spPr>
          <a:xfrm>
            <a:off x="6045200" y="2844800"/>
            <a:ext cx="965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75" lIns="0" spcFirstLastPara="1" rIns="0" wrap="square" tIns="470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6"/>
              <a:buFont typeface="Arial"/>
              <a:buNone/>
            </a:pPr>
            <a:r>
              <a:rPr b="0" i="0" lang="en-US" sz="3706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d96ba28e0f_0_230"/>
          <p:cNvSpPr txBox="1"/>
          <p:nvPr/>
        </p:nvSpPr>
        <p:spPr>
          <a:xfrm>
            <a:off x="7467600" y="2336800"/>
            <a:ext cx="113031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8300" lIns="0" spcFirstLastPara="1" rIns="0" wrap="square" tIns="178300">
            <a:noAutofit/>
          </a:bodyPr>
          <a:lstStyle/>
          <a:p>
            <a:pPr indent="0" lvl="0" marL="0" marR="0" rtl="0" algn="l">
              <a:lnSpc>
                <a:spcPct val="92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결론 및 고찰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g3d96ba28e0f_0_2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33550" y="5130800"/>
            <a:ext cx="5778500" cy="6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d96ba28e0f_0_230"/>
          <p:cNvSpPr txBox="1"/>
          <p:nvPr/>
        </p:nvSpPr>
        <p:spPr>
          <a:xfrm>
            <a:off x="3136850" y="5772213"/>
            <a:ext cx="3771900" cy="1295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신호 안정성 확보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d96ba28e0f_0_230"/>
          <p:cNvSpPr txBox="1"/>
          <p:nvPr/>
        </p:nvSpPr>
        <p:spPr>
          <a:xfrm>
            <a:off x="2689412" y="7369300"/>
            <a:ext cx="4673338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비동기 신호 수신의 고질적 문제인 메타스테이블 방지를 위한 </a:t>
            </a:r>
            <a:b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설계 적용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1" name="Google Shape;541;g3d96ba28e0f_0_2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02750" y="5118100"/>
            <a:ext cx="5778500" cy="6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d96ba28e0f_0_230"/>
          <p:cNvSpPr txBox="1"/>
          <p:nvPr/>
        </p:nvSpPr>
        <p:spPr>
          <a:xfrm>
            <a:off x="10306050" y="5772225"/>
            <a:ext cx="3771900" cy="1295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데이터 복원 신뢰성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d96ba28e0f_0_230"/>
          <p:cNvSpPr txBox="1"/>
          <p:nvPr/>
        </p:nvSpPr>
        <p:spPr>
          <a:xfrm>
            <a:off x="9956850" y="7369300"/>
            <a:ext cx="44703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16배속 오버샘플링과 </a:t>
            </a:r>
            <a:b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중앙 샘플링 기법을 통한 </a:t>
            </a:r>
            <a:b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누적 타이밍 오차 극복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g3d96ba28e0f_0_2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471950" y="5130800"/>
            <a:ext cx="5778500" cy="633729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d96ba28e0f_0_230"/>
          <p:cNvSpPr txBox="1"/>
          <p:nvPr/>
        </p:nvSpPr>
        <p:spPr>
          <a:xfrm>
            <a:off x="17475250" y="5772225"/>
            <a:ext cx="3771900" cy="1295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7100" lIns="0" spcFirstLastPara="1" rIns="0" wrap="square" tIns="4710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하드웨어 무결성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d96ba28e0f_0_230"/>
          <p:cNvSpPr txBox="1"/>
          <p:nvPr/>
        </p:nvSpPr>
        <p:spPr>
          <a:xfrm>
            <a:off x="17126050" y="7369300"/>
            <a:ext cx="44703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1"/>
              <a:buFont typeface="Arial"/>
              <a:buNone/>
            </a:pP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소프트웨어의 개입 없는 </a:t>
            </a:r>
            <a:b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독립적인 하드웨어 루프백 </a:t>
            </a:r>
            <a:b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검증 환경 구축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d96ba28e0f_0_230"/>
          <p:cNvSpPr txBox="1"/>
          <p:nvPr/>
        </p:nvSpPr>
        <p:spPr>
          <a:xfrm>
            <a:off x="2343150" y="9334725"/>
            <a:ext cx="54690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2단계 싱크로나이저 구현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비동기 RX 신호의 안정적 동기화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물리적 지연을 감수한 안정성 우선 설계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d96ba28e0f_0_230"/>
          <p:cNvSpPr txBox="1"/>
          <p:nvPr/>
        </p:nvSpPr>
        <p:spPr>
          <a:xfrm>
            <a:off x="9407550" y="9334725"/>
            <a:ext cx="55689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비트 중앙에서 데이터 읽어 오차 최소화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23-Tick STOP 설계로 7틱 오차 흡수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PC - FPGA 간 BaudRate 오차 내성 강화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d96ba28e0f_0_230"/>
          <p:cNvSpPr txBox="1"/>
          <p:nvPr/>
        </p:nvSpPr>
        <p:spPr>
          <a:xfrm>
            <a:off x="16571850" y="9334725"/>
            <a:ext cx="57786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RX_done과 TX_start의 즉각적 연동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Comportmaster를 활용한 실시간 모니터링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36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31"/>
              <a:buFont typeface="Arial"/>
              <a:buNone/>
            </a:pPr>
            <a:r>
              <a:rPr b="0" i="0" lang="en-US" sz="2231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-&gt; 전 구간 데이터 무결성 확인</a:t>
            </a:r>
            <a:endParaRPr b="0" i="0" sz="2231" u="none" cap="none" strike="noStrike">
              <a:solidFill>
                <a:srgbClr val="54545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EF1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800" y="14478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01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9182100"/>
            <a:ext cx="22415500" cy="88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96000" y="11430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1800" y="16510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1800" y="18542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284200" y="1549400"/>
            <a:ext cx="23368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01800" y="2057400"/>
            <a:ext cx="20955000" cy="146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7100" y="11772900"/>
            <a:ext cx="22529800" cy="75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83400" y="12331700"/>
            <a:ext cx="5334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1100" y="13106400"/>
            <a:ext cx="9867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23000" y="8077200"/>
            <a:ext cx="119507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0"/>
          <p:cNvSpPr txBox="1"/>
          <p:nvPr/>
        </p:nvSpPr>
        <p:spPr>
          <a:xfrm>
            <a:off x="4521200" y="3860800"/>
            <a:ext cx="15367000" cy="39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8750" lIns="0" spcFirstLastPara="1" rIns="0" wrap="square" tIns="238750">
            <a:noAutofit/>
          </a:bodyPr>
          <a:lstStyle/>
          <a:p>
            <a:pPr indent="0" lvl="0" marL="0" marR="0" rtl="0" algn="ctr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33"/>
              <a:buFont typeface="Arial"/>
              <a:buNone/>
            </a:pPr>
            <a:r>
              <a:rPr b="0" i="0" lang="en-US" sz="12533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"/>
          <p:cNvSpPr txBox="1"/>
          <p:nvPr/>
        </p:nvSpPr>
        <p:spPr>
          <a:xfrm>
            <a:off x="7658100" y="12458700"/>
            <a:ext cx="97409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25" lIns="0" spcFirstLastPara="1" rIns="0" wrap="square" tIns="31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2"/>
              <a:buFont typeface="Arial"/>
              <a:buNone/>
            </a:pPr>
            <a:r>
              <a:rPr b="0" i="0" lang="en-US" sz="2452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온디바이스 AI 2기 이찬미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kccistc</dc:creator>
</cp:coreProperties>
</file>